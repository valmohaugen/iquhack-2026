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74CB26-0175-46BC-86CB-57A30F69BC10}">
  <a:tblStyle styleId="{A474CB26-0175-46BC-86CB-57A30F69BC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c8e5907b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c8e5907b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c8e5907b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c8e5907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9239fabf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9239fab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c9239fabf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c9239fabf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c8e5907b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c8e5907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c8e5907b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c8e5907b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c8e5907b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c8e5907b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c9239fabf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c9239fabf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-1" y="0"/>
            <a:ext cx="9143999" cy="6888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Lil Luna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779"/>
              <a:t>Nathan Jones, Abrar Faiyaz, Valentine Mohaugen, Landon Holcomb, Jack Layton</a:t>
            </a:r>
            <a:endParaRPr sz="177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Tasks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Compile 11 target unitaries into Clifford+T circuits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Maximize "Clifford Absorption"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Minimize T-count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Minimize the Operator Norm Distance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Constraints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</a:rPr>
              <a:t>{H, T, Tdg, S, Sdg, CNOT} gates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Ancilla-free circuits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9998" y="4224350"/>
            <a:ext cx="864000" cy="9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06650"/>
            <a:ext cx="80962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Step 1: Identify structure: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Clifford? diagonal? Pauli exponential? Controlled rotation? Random?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Step 2: Decide synthesis route: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Exact Clifford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Exact Clifford+T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Approximate synthesis</a:t>
            </a:r>
            <a:r>
              <a:rPr lang="en" sz="1100">
                <a:solidFill>
                  <a:schemeClr val="dk1"/>
                </a:solidFill>
              </a:rPr>
              <a:t> (Ross–Selinger via </a:t>
            </a:r>
            <a:r>
              <a:rPr i="1" lang="en" sz="1100">
                <a:solidFill>
                  <a:schemeClr val="dk1"/>
                </a:solidFill>
              </a:rPr>
              <a:t>newsynth/gridsynth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Post-optimization</a:t>
            </a:r>
            <a:r>
              <a:rPr lang="en" sz="1100">
                <a:solidFill>
                  <a:schemeClr val="dk1"/>
                </a:solidFill>
              </a:rPr>
              <a:t> (Amy–Mosca phase polynomial via </a:t>
            </a:r>
            <a:r>
              <a:rPr i="1" lang="en" sz="1100">
                <a:solidFill>
                  <a:schemeClr val="dk1"/>
                </a:solidFill>
              </a:rPr>
              <a:t>rmsynth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challenge (2)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Step 3: Explore T-count vs accuracy tradeoff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select “low-T” submission vs “low-distance” submission depending on scoreboard needs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Problems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000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Type A: Exact / identity-based</a:t>
            </a:r>
            <a:endParaRPr b="1" sz="17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These are the “free wins”: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some are pure Clifford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others are exact Clifford+T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Usually: structured matrices, controlled gates, or Hamiltonians that simplify.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Goal: distance = 0 with as few gates as possible.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4902288" y="1000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T</a:t>
            </a:r>
            <a:r>
              <a:rPr b="1" lang="en" sz="2100">
                <a:solidFill>
                  <a:schemeClr val="dk1"/>
                </a:solidFill>
              </a:rPr>
              <a:t>ype B: “Rotation-driven” problems</a:t>
            </a:r>
            <a:endParaRPr b="1" sz="2100">
              <a:solidFill>
                <a:schemeClr val="dk1"/>
              </a:solidFill>
            </a:endParaRPr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These are the ones where the unitary is </a:t>
            </a:r>
            <a:r>
              <a:rPr i="1" lang="en">
                <a:solidFill>
                  <a:schemeClr val="dk1"/>
                </a:solidFill>
              </a:rPr>
              <a:t>mostly easy</a:t>
            </a:r>
            <a:r>
              <a:rPr lang="en">
                <a:solidFill>
                  <a:schemeClr val="dk1"/>
                </a:solidFill>
              </a:rPr>
              <a:t>, except for one thing:</a:t>
            </a:r>
            <a:endParaRPr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○"/>
            </a:pPr>
            <a:r>
              <a:rPr lang="en">
                <a:solidFill>
                  <a:schemeClr val="dk1"/>
                </a:solidFill>
              </a:rPr>
              <a:t>an angle like </a:t>
            </a:r>
            <a:r>
              <a:rPr b="1" lang="en">
                <a:solidFill>
                  <a:schemeClr val="dk1"/>
                </a:solidFill>
              </a:rPr>
              <a:t>𝜋/7 </a:t>
            </a:r>
            <a:r>
              <a:rPr lang="en">
                <a:solidFill>
                  <a:schemeClr val="dk1"/>
                </a:solidFill>
              </a:rPr>
              <a:t>that can’t be expressed cheaply using Clifford alone.</a:t>
            </a:r>
            <a:endParaRPr>
              <a:solidFill>
                <a:schemeClr val="dk1"/>
              </a:solidFill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Common patterns from the sheet:</a:t>
            </a:r>
            <a:endParaRPr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○"/>
            </a:pPr>
            <a:r>
              <a:rPr lang="en">
                <a:solidFill>
                  <a:schemeClr val="dk1"/>
                </a:solidFill>
              </a:rPr>
              <a:t>controlled 𝑅</a:t>
            </a:r>
            <a:r>
              <a:rPr baseline="-25000" lang="en">
                <a:solidFill>
                  <a:schemeClr val="dk1"/>
                </a:solidFill>
              </a:rPr>
              <a:t>Y</a:t>
            </a:r>
            <a:r>
              <a:rPr lang="en">
                <a:solidFill>
                  <a:schemeClr val="dk1"/>
                </a:solidFill>
              </a:rPr>
              <a:t>(𝜋/7) (problem #2)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challenge</a:t>
            </a:r>
            <a:endParaRPr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○"/>
            </a:pPr>
            <a:r>
              <a:rPr lang="en">
                <a:solidFill>
                  <a:schemeClr val="dk1"/>
                </a:solidFill>
              </a:rPr>
              <a:t>exponentials like exp(𝑖𝜋/7(𝑍⊗𝑍)) (#3)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challenge </a:t>
            </a:r>
            <a:endParaRPr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○"/>
            </a:pPr>
            <a:r>
              <a:rPr lang="en">
                <a:solidFill>
                  <a:schemeClr val="dk1"/>
                </a:solidFill>
              </a:rPr>
              <a:t>Ising / simulation Hamiltonians (#6)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challenge </a:t>
            </a:r>
            <a:endParaRPr>
              <a:solidFill>
                <a:schemeClr val="dk1"/>
              </a:solidFill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Strategy:</a:t>
            </a:r>
            <a:endParaRPr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○"/>
            </a:pPr>
            <a:r>
              <a:rPr lang="en">
                <a:solidFill>
                  <a:schemeClr val="dk1"/>
                </a:solidFill>
              </a:rPr>
              <a:t>convert most of the unitary into Clifford gadgets</a:t>
            </a:r>
            <a:endParaRPr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○"/>
            </a:pPr>
            <a:r>
              <a:rPr lang="en">
                <a:solidFill>
                  <a:schemeClr val="dk1"/>
                </a:solidFill>
              </a:rPr>
              <a:t>isolate the remaining part into a small number of Z-rotations</a:t>
            </a:r>
            <a:endParaRPr>
              <a:solidFill>
                <a:schemeClr val="dk1"/>
              </a:solidFill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○"/>
            </a:pPr>
            <a:r>
              <a:rPr lang="en">
                <a:solidFill>
                  <a:schemeClr val="dk1"/>
                </a:solidFill>
              </a:rPr>
              <a:t>synthesize those using Ross–Selinger / newsynth (near-optimal Clifford+T approximation).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6500" y="3871873"/>
            <a:ext cx="1652975" cy="9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4325" y="3609025"/>
            <a:ext cx="1333375" cy="1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1448850" y="4051075"/>
            <a:ext cx="543300" cy="5727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num7_2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963" y="2770275"/>
            <a:ext cx="591502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Unstructured Problems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Type C: “No obvious structure” problems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random unitary (#10)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challenge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state preparation (#7)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challenge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these, there isn’t a nice symbolic simplification.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 we go computational: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synthesize candidates at multiple tolerances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greedy  optimization loop with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rmsynth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identity  search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commutative  aggregation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qiskit-transpile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Bonus: Breadth First Search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State preparation: smaller dimension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Computationally feasible to simply search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Circuit depth &lt; 11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en" sz="1100">
                <a:solidFill>
                  <a:schemeClr val="dk1"/>
                </a:solidFill>
              </a:rPr>
              <a:t>T-count &lt; 3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Result:  T-Count 2 circuit with 0.979 fidelity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`synth` Packages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472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`rmsynth`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For phase polynomial optimization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Amy &amp; Mosca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`gridsynth`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For </a:t>
            </a:r>
            <a:r>
              <a:rPr lang="en">
                <a:solidFill>
                  <a:schemeClr val="dk1"/>
                </a:solidFill>
              </a:rPr>
              <a:t>optimal</a:t>
            </a:r>
            <a:r>
              <a:rPr lang="en">
                <a:solidFill>
                  <a:schemeClr val="dk1"/>
                </a:solidFill>
              </a:rPr>
              <a:t> R_z approximation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Ross &amp; Selinger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`qiskit`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For intermediate representation and fidelity checks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325" y="2978452"/>
            <a:ext cx="3986676" cy="21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2" name="Google Shape;102;p19" title="p3Tv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850" y="106700"/>
            <a:ext cx="82242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Problem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Because the Pauli terms commute pairwise, this was not a Trotterization problem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were able to solve exactly for the zero operator norm distance and </a:t>
            </a:r>
            <a:r>
              <a:rPr lang="en">
                <a:solidFill>
                  <a:schemeClr val="dk1"/>
                </a:solidFill>
              </a:rPr>
              <a:t>achieved</a:t>
            </a:r>
            <a:r>
              <a:rPr lang="en">
                <a:solidFill>
                  <a:schemeClr val="dk1"/>
                </a:solidFill>
              </a:rPr>
              <a:t> a fidelity of 1.0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- Top of the Leaderboard!</a:t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117875" y="134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{A474CB26-0175-46BC-86CB-57A30F69BC10}</a:tableStyleId>
              </a:tblPr>
              <a:tblGrid>
                <a:gridCol w="1580025"/>
                <a:gridCol w="382850"/>
                <a:gridCol w="622800"/>
                <a:gridCol w="582750"/>
                <a:gridCol w="650275"/>
                <a:gridCol w="616500"/>
                <a:gridCol w="639000"/>
                <a:gridCol w="549050"/>
                <a:gridCol w="616500"/>
                <a:gridCol w="616500"/>
                <a:gridCol w="639025"/>
                <a:gridCol w="627750"/>
                <a:gridCol w="785225"/>
              </a:tblGrid>
              <a:tr h="39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Norm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4e-14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2e-14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4e-14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2e-16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1e-12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3e-16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1e-16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1e-10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3e-16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2e-13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61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Norm T-Count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284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144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286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748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594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1525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1963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61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T-Count Norm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1e-5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T-Count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" name="Google Shape;115;p21"/>
          <p:cNvSpPr txBox="1"/>
          <p:nvPr/>
        </p:nvSpPr>
        <p:spPr>
          <a:xfrm>
            <a:off x="496750" y="4444200"/>
            <a:ext cx="81024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*Fidelity rather than norm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